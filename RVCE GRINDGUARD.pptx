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374" r:id="rId2"/>
    <p:sldId id="375" r:id="rId3"/>
    <p:sldId id="257" r:id="rId4"/>
    <p:sldId id="376" r:id="rId5"/>
    <p:sldId id="377" r:id="rId6"/>
    <p:sldId id="378" r:id="rId7"/>
    <p:sldId id="379" r:id="rId8"/>
    <p:sldId id="380" r:id="rId9"/>
    <p:sldId id="382" r:id="rId10"/>
    <p:sldId id="38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91" autoAdjust="0"/>
    <p:restoredTop sz="94660"/>
  </p:normalViewPr>
  <p:slideViewPr>
    <p:cSldViewPr snapToGrid="0">
      <p:cViewPr varScale="1">
        <p:scale>
          <a:sx n="63" d="100"/>
          <a:sy n="63" d="100"/>
        </p:scale>
        <p:origin x="61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BAFF0E-449D-426B-83E6-7E557F3BCD7F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2ADFC2-4656-49F6-8F5B-84313FD652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12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7732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4126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8865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7126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133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1306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9535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0324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264D7-FD5D-4592-B4BA-0A1638C282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322DA6-5CC0-4908-AB19-3BCB77EFC6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FF6F72-5872-4CEB-A8C1-89CFCA549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6BC3D-6474-4263-9B99-5E9D15575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A2E46B-395F-44BB-A399-301BD8986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3259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59695-79A9-4446-91E3-05E7FE7A1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66FC54-E211-48A1-8BCA-378B4D4D3A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25B42F-19A5-4F50-9CDF-42D673EB0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AEB133-FF63-4CDE-83A1-44AF473A2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A2E08C-2449-4EE7-85C3-B82B56662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0120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626C4-320A-4799-9AE2-8DDE1CA61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DC3420-268D-4A73-990C-4BA3150862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19061-FA9F-4CD9-8574-300E0E899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C8B69E-7D13-401E-BA52-560698F83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0F2BDD-5AC8-4AE3-8868-F8CC1DA76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8694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219AC-BA64-4335-BA9B-DF3911CCE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8DA36-87D1-4E4A-8D55-031DDA3086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5276BB-4B19-4B31-A15F-D171E88D88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E846C6-E4EC-417D-8F33-F85084C30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C9D499-DC6A-4178-AFA3-2E2D44FD3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E19571-DCCE-45D8-8783-EA6DC03D8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1939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78171-0F87-491D-955D-347FAE8D0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23EC69-5405-4A73-84BD-F54C9837DB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A1D5BF-B1AE-44F7-BF58-8E4B057CDD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7E8175-A0D7-4248-A114-5AC9DF5116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338F68-9ACA-4AC9-B3EC-D38E662B2A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F9F48F-32B7-4E62-920E-426CD4A43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7049EB-BDFC-47EA-9692-76B738943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F573FA-F1A3-4137-8DF6-8477A299D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6541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EC694-79DB-4363-B1A5-15A50E69F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4B602A-C477-4739-9033-AA90AEB95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E378F1-E22C-4E55-9DDB-BB46A0C14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5B7E4F-F4BD-47E4-8AF4-FE65D6600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3687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180C5E-189E-4B16-8B64-6164F629D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B3E471-C627-4A6F-8940-20A4EE7AC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F3B9AE-03BF-4E26-AF08-84460AF45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7498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65660-5922-4086-9079-F98C845BC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CA404-6545-4C37-A301-16A160A007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D04D32-44ED-4022-9B36-1EE734ED65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38BFFD-8B76-47E2-B9FB-5194F0101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D40FA1-8D0A-4E4C-9953-054729FB8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9A4A1-B2D3-4598-9C16-19E3F974E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3538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7357B-DBC0-436F-82C9-9BE7A6D46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CAA78A-18AB-4BC5-BEFE-4D14122FCE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76BB34-FC6B-48B7-88A4-726F547354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AB742C-BF4E-4140-8947-871247A33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1326A-4386-47BF-8036-878141A47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5A690-66C4-49A2-AFF2-86E9646D8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2603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FD690-141F-4B82-AAA6-311E8BB6E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5DCD3E-D233-4229-9571-4585EFE523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12A0F7-FDB1-43FF-A571-32B80EE10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B04E9-3520-49DA-836F-CFFB881FB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EC8C8B-43E3-4E78-9BFA-28431143D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4527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6DD375-6C7A-403C-8B36-D5D3CFCF0E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BF1880-F132-48C9-9D79-CA50684340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EB219E-CEFA-45B4-9588-67FAD5B86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14DA2-B751-43ED-834C-17F142F9E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DBFD0-8FFE-4F10-9A8D-DC32F2294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72880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0540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D61A3F-7420-4211-A9AF-443ACDC04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A53A93-B55A-4668-86F8-9483DF49D6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E196E0-46F1-4FF9-A486-7116F5016B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0E07B5-C98B-47C4-829C-B640A6AEE9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113DEB-9452-48C6-802D-EC521E6023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5818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arthprabhu2007-art/SAMSUNG-HACKATHON-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drive.google.com/drive/u/2/folders/14nWKqE1NpQNWzFzL5WSV0tQqlkPlvEBy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Picture 98">
            <a:extLst>
              <a:ext uri="{FF2B5EF4-FFF2-40B4-BE49-F238E27FC236}">
                <a16:creationId xmlns:a16="http://schemas.microsoft.com/office/drawing/2014/main" id="{AA78BBCF-2634-4089-8492-D8569E905F6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35216" t="9860" r="35722" b="40504"/>
          <a:stretch/>
        </p:blipFill>
        <p:spPr>
          <a:xfrm>
            <a:off x="7372538" y="1619794"/>
            <a:ext cx="4421349" cy="5638238"/>
          </a:xfrm>
          <a:prstGeom prst="rect">
            <a:avLst/>
          </a:prstGeom>
        </p:spPr>
      </p:pic>
      <p:sp>
        <p:nvSpPr>
          <p:cNvPr id="75" name="TextBox 74">
            <a:extLst>
              <a:ext uri="{FF2B5EF4-FFF2-40B4-BE49-F238E27FC236}">
                <a16:creationId xmlns:a16="http://schemas.microsoft.com/office/drawing/2014/main" id="{966C81A6-8FBD-44BD-9DF5-A762864663F9}"/>
              </a:ext>
            </a:extLst>
          </p:cNvPr>
          <p:cNvSpPr txBox="1"/>
          <p:nvPr/>
        </p:nvSpPr>
        <p:spPr>
          <a:xfrm>
            <a:off x="0" y="604461"/>
            <a:ext cx="21825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Berlin Sans FB Demi" panose="020E0802020502020306" pitchFamily="34" charset="0"/>
                <a:ea typeface="SamsungOne 800" panose="020B0903030303020204" pitchFamily="34" charset="0"/>
              </a:rPr>
              <a:t>CLASH OF THE</a:t>
            </a:r>
            <a:endParaRPr lang="en-US" sz="2000" b="1" dirty="0">
              <a:solidFill>
                <a:srgbClr val="E81B25"/>
              </a:solidFill>
              <a:latin typeface="Berlin Sans FB Demi" panose="020E0802020502020306" pitchFamily="34" charset="0"/>
              <a:ea typeface="SamsungOne 800" panose="020B0903030303020204" pitchFamily="34" charset="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2DB02A4-569F-4135-9840-A60286D3E03F}"/>
              </a:ext>
            </a:extLst>
          </p:cNvPr>
          <p:cNvSpPr txBox="1"/>
          <p:nvPr/>
        </p:nvSpPr>
        <p:spPr>
          <a:xfrm>
            <a:off x="1756232" y="436120"/>
            <a:ext cx="20911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CLAWS</a:t>
            </a:r>
            <a:endParaRPr lang="en-IN" sz="3600" dirty="0">
              <a:latin typeface="Berlin Sans FB Demi" panose="020E0802020502020306" pitchFamily="34" charset="0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DD060EA0-A6D1-484F-8987-38123CE63233}"/>
              </a:ext>
            </a:extLst>
          </p:cNvPr>
          <p:cNvSpPr txBox="1"/>
          <p:nvPr/>
        </p:nvSpPr>
        <p:spPr>
          <a:xfrm>
            <a:off x="692428" y="1082451"/>
            <a:ext cx="5132436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RV COLLEGE OF ENGINEERING </a:t>
            </a:r>
          </a:p>
          <a:p>
            <a:pPr algn="ctr"/>
            <a:br>
              <a:rPr lang="en-US" sz="4000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</a:br>
            <a:r>
              <a:rPr lang="en-US" sz="4000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GRINDGUARD</a:t>
            </a:r>
          </a:p>
          <a:p>
            <a:pPr algn="ctr"/>
            <a:endParaRPr lang="en-US" sz="4000" b="1" dirty="0">
              <a:solidFill>
                <a:srgbClr val="E81B25"/>
              </a:solidFill>
              <a:latin typeface="Berlin Sans FB Demi" panose="020E0802020502020306" pitchFamily="34" charset="0"/>
              <a:ea typeface="SamsungOne 800" panose="020B0903030303020204" pitchFamily="34" charset="0"/>
            </a:endParaRPr>
          </a:p>
          <a:p>
            <a:pPr algn="ctr"/>
            <a:r>
              <a:rPr lang="en-US" sz="3200" b="1" dirty="0">
                <a:solidFill>
                  <a:schemeClr val="tx2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-SHREYAS KIRAN LAGVANKAR</a:t>
            </a:r>
          </a:p>
          <a:p>
            <a:pPr algn="ctr"/>
            <a:r>
              <a:rPr lang="en-US" sz="3200" b="1" dirty="0">
                <a:solidFill>
                  <a:schemeClr val="tx2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-SAAMRTH S</a:t>
            </a:r>
          </a:p>
          <a:p>
            <a:pPr algn="ctr"/>
            <a:r>
              <a:rPr lang="en-US" sz="3200" b="1" dirty="0">
                <a:solidFill>
                  <a:schemeClr val="tx2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-SAMARTH PRABHU</a:t>
            </a:r>
          </a:p>
          <a:p>
            <a:pPr algn="ctr"/>
            <a:r>
              <a:rPr lang="en-US" sz="3200" b="1" dirty="0">
                <a:solidFill>
                  <a:schemeClr val="tx2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-SANJEEV NM</a:t>
            </a:r>
            <a:br>
              <a:rPr lang="en-US" sz="4000" b="1" dirty="0">
                <a:solidFill>
                  <a:schemeClr val="tx2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</a:br>
            <a:endParaRPr lang="en-US" sz="4000" b="1" dirty="0">
              <a:solidFill>
                <a:schemeClr val="tx2"/>
              </a:solidFill>
              <a:latin typeface="Berlin Sans FB Demi" panose="020E0802020502020306" pitchFamily="34" charset="0"/>
              <a:ea typeface="SamsungOne 800" panose="020B0903030303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263B24E-BBCD-4BAC-9AEF-81547E82C9E5}"/>
              </a:ext>
            </a:extLst>
          </p:cNvPr>
          <p:cNvGrpSpPr/>
          <p:nvPr/>
        </p:nvGrpSpPr>
        <p:grpSpPr>
          <a:xfrm>
            <a:off x="137355" y="46746"/>
            <a:ext cx="3814159" cy="639045"/>
            <a:chOff x="137355" y="133834"/>
            <a:chExt cx="3814159" cy="639045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3C9D2D8C-378C-4311-B59D-9891D5378E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7355" y="133834"/>
              <a:ext cx="974396" cy="639045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AA001E0-3B05-4E97-9F59-DA7472558885}"/>
                </a:ext>
              </a:extLst>
            </p:cNvPr>
            <p:cNvSpPr txBox="1"/>
            <p:nvPr/>
          </p:nvSpPr>
          <p:spPr>
            <a:xfrm>
              <a:off x="1017814" y="244337"/>
              <a:ext cx="29337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>
                  <a:latin typeface="Berlin Sans FB Demi" panose="020E0802020502020306" pitchFamily="34" charset="0"/>
                  <a:ea typeface="SamsungOne 800" panose="020B0903030303020204" pitchFamily="34" charset="0"/>
                </a:rPr>
                <a:t>| Tech Management, SRI-B</a:t>
              </a:r>
              <a:endParaRPr lang="en-US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547319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609600" y="1600000"/>
            <a:ext cx="9804400" cy="4924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/>
            <a:r>
              <a:rPr lang="en-US" sz="2000" b="1" dirty="0">
                <a:solidFill>
                  <a:srgbClr val="0077A8"/>
                </a:solidFill>
              </a:rPr>
              <a:t>🎯 Theme: Productivity + GenAI</a:t>
            </a:r>
          </a:p>
          <a:p>
            <a:pPr marL="0" indent="0"/>
            <a:r>
              <a:rPr lang="en-US" dirty="0"/>
              <a:t>We chose Productivity because the problem is universal, measurable, and deeply underserved by AI. Existing tools block or track — none verify. GenAI lets us close that gap: generate material-specific quizzes, classify screen activity in real time, and run an adaptive AI agent — all server-side, scalable, and API-driven.</a:t>
            </a:r>
          </a:p>
          <a:p>
            <a:pPr marL="0" indent="0"/>
            <a:r>
              <a:rPr lang="en-US" sz="2000" b="1" dirty="0">
                <a:solidFill>
                  <a:srgbClr val="0077A8"/>
                </a:solidFill>
              </a:rPr>
              <a:t>⚠ Problem We’re Solving</a:t>
            </a:r>
          </a:p>
          <a:p>
            <a:pPr marL="0" indent="0"/>
            <a:r>
              <a:rPr lang="en-US" dirty="0"/>
              <a:t>Students spend 4–6 hours daily on screens, yet a large fraction is passive consumption. No existing tool ties leisure access to verified comprehension. Studying happens, but learning is never confirmed — and the system never enforces a consequence.</a:t>
            </a:r>
          </a:p>
          <a:p>
            <a:pPr marL="0" indent="0"/>
            <a:r>
              <a:rPr lang="en-US" sz="2000" b="1" dirty="0">
                <a:solidFill>
                  <a:srgbClr val="0077A8"/>
                </a:solidFill>
              </a:rPr>
              <a:t>🧑‍💻 Persona</a:t>
            </a:r>
          </a:p>
          <a:p>
            <a:pPr marL="0" indent="0"/>
            <a:r>
              <a:rPr lang="en-US" dirty="0"/>
              <a:t>Arjun, 20, engineering student at RVCE. Exams in 3 days. He opens his laptop to study but 45 minutes later he’s watching YouTube. No system holds him accountable. He knows he’s procrastinating — but awareness alone doesn’t change behaviour.</a:t>
            </a:r>
          </a:p>
          <a:p>
            <a:pPr marL="0" indent="0"/>
            <a:r>
              <a:rPr lang="en-US" sz="2000" b="1" dirty="0">
                <a:solidFill>
                  <a:srgbClr val="0077A8"/>
                </a:solidFill>
              </a:rPr>
              <a:t>💡 Why It Matters</a:t>
            </a:r>
          </a:p>
          <a:p>
            <a:pPr marL="0" indent="0"/>
            <a:r>
              <a:rPr lang="en-US" dirty="0"/>
              <a:t>Shallow studying wastes time without building retention. The root issue is the absence of a verified feedback loop: effort is invisible, reward is unconditional, and distraction is frictionless. GrindGuard makes learning the only path to leisure.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5C1E9D-1F98-4CDB-8C10-EACE322B205B}"/>
              </a:ext>
            </a:extLst>
          </p:cNvPr>
          <p:cNvSpPr txBox="1"/>
          <p:nvPr/>
        </p:nvSpPr>
        <p:spPr>
          <a:xfrm>
            <a:off x="6670071" y="4145654"/>
            <a:ext cx="2760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51803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2783840" y="542488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Current Solution &amp; Gaps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F01479B-3421-F295-A4EC-FB77010AC6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4126741"/>
              </p:ext>
            </p:extLst>
          </p:nvPr>
        </p:nvGraphicFramePr>
        <p:xfrm>
          <a:off x="2783840" y="1395928"/>
          <a:ext cx="5974080" cy="5167433"/>
        </p:xfrm>
        <a:graphic>
          <a:graphicData uri="http://schemas.openxmlformats.org/drawingml/2006/table">
            <a:tbl>
              <a:tblPr/>
              <a:tblGrid>
                <a:gridCol w="1991360">
                  <a:extLst>
                    <a:ext uri="{9D8B030D-6E8A-4147-A177-3AD203B41FA5}">
                      <a16:colId xmlns:a16="http://schemas.microsoft.com/office/drawing/2014/main" val="2744832475"/>
                    </a:ext>
                  </a:extLst>
                </a:gridCol>
                <a:gridCol w="1991360">
                  <a:extLst>
                    <a:ext uri="{9D8B030D-6E8A-4147-A177-3AD203B41FA5}">
                      <a16:colId xmlns:a16="http://schemas.microsoft.com/office/drawing/2014/main" val="3763958273"/>
                    </a:ext>
                  </a:extLst>
                </a:gridCol>
                <a:gridCol w="1991360">
                  <a:extLst>
                    <a:ext uri="{9D8B030D-6E8A-4147-A177-3AD203B41FA5}">
                      <a16:colId xmlns:a16="http://schemas.microsoft.com/office/drawing/2014/main" val="4193178504"/>
                    </a:ext>
                  </a:extLst>
                </a:gridCol>
              </a:tblGrid>
              <a:tr h="56147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400" b="1">
                          <a:solidFill>
                            <a:schemeClr val="bg1"/>
                          </a:solidFill>
                          <a:effectLst/>
                        </a:rPr>
                        <a:t>Tool</a:t>
                      </a:r>
                    </a:p>
                  </a:txBody>
                  <a:tcPr marL="60101" marR="60101" marT="20034" marB="20034">
                    <a:lnL w="4229" cap="flat" cmpd="sng" algn="ctr">
                      <a:solidFill>
                        <a:srgbClr val="E05E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805F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E05E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E06D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400" b="1" dirty="0">
                          <a:solidFill>
                            <a:schemeClr val="bg1"/>
                          </a:solidFill>
                          <a:effectLst/>
                        </a:rPr>
                        <a:t>What it does</a:t>
                      </a:r>
                    </a:p>
                  </a:txBody>
                  <a:tcPr marL="60101" marR="60101" marT="20034" marB="20034">
                    <a:lnL w="4229" cap="flat" cmpd="sng" algn="ctr">
                      <a:solidFill>
                        <a:srgbClr val="805F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D05A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805F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5062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400" b="1">
                          <a:solidFill>
                            <a:schemeClr val="bg1"/>
                          </a:solidFill>
                          <a:effectLst/>
                        </a:rPr>
                        <a:t>The Gap</a:t>
                      </a:r>
                    </a:p>
                  </a:txBody>
                  <a:tcPr marL="60101" marR="60101" marT="20034" marB="20034">
                    <a:lnL w="4229" cap="flat" cmpd="sng" algn="ctr">
                      <a:solidFill>
                        <a:srgbClr val="D05A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4229" cap="flat" cmpd="sng" algn="ctr">
                      <a:solidFill>
                        <a:srgbClr val="D05A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3069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5250230"/>
                  </a:ext>
                </a:extLst>
              </a:tr>
              <a:tr h="818415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</a:rPr>
                        <a:t>Pomodoro / Forest</a:t>
                      </a:r>
                    </a:p>
                  </a:txBody>
                  <a:tcPr marL="60101" marR="60101" marT="20034" marB="20034">
                    <a:lnL w="4229" cap="flat" cmpd="sng" algn="ctr">
                      <a:solidFill>
                        <a:srgbClr val="E06D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5062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E06D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8069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</a:rPr>
                        <a:t>Tracks 25-min blocks</a:t>
                      </a:r>
                    </a:p>
                  </a:txBody>
                  <a:tcPr marL="60101" marR="60101" marT="20034" marB="20034">
                    <a:lnL w="4229" cap="flat" cmpd="sng" algn="ctr">
                      <a:solidFill>
                        <a:srgbClr val="5062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3069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5062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4063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</a:rPr>
                        <a:t>No knowledge check</a:t>
                      </a:r>
                    </a:p>
                  </a:txBody>
                  <a:tcPr marL="60101" marR="60101" marT="20034" marB="20034">
                    <a:lnL w="4229" cap="flat" cmpd="sng" algn="ctr">
                      <a:solidFill>
                        <a:srgbClr val="3069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4229" cap="flat" cmpd="sng" algn="ctr">
                      <a:solidFill>
                        <a:srgbClr val="3069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C060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9478326"/>
                  </a:ext>
                </a:extLst>
              </a:tr>
              <a:tr h="818415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</a:rPr>
                        <a:t>Cold Turkey</a:t>
                      </a:r>
                    </a:p>
                  </a:txBody>
                  <a:tcPr marL="60101" marR="60101" marT="20034" marB="20034">
                    <a:lnL w="4229" cap="flat" cmpd="sng" algn="ctr">
                      <a:solidFill>
                        <a:srgbClr val="8069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4063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8069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F062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</a:rPr>
                        <a:t>Hard blocks sites</a:t>
                      </a:r>
                    </a:p>
                  </a:txBody>
                  <a:tcPr marL="60101" marR="60101" marT="20034" marB="20034">
                    <a:lnL w="4229" cap="flat" cmpd="sng" algn="ctr">
                      <a:solidFill>
                        <a:srgbClr val="4063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C060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4063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D069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</a:rPr>
                        <a:t>No reward loop</a:t>
                      </a:r>
                    </a:p>
                  </a:txBody>
                  <a:tcPr marL="60101" marR="60101" marT="20034" marB="20034">
                    <a:lnL w="4229" cap="flat" cmpd="sng" algn="ctr">
                      <a:solidFill>
                        <a:srgbClr val="C060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4229" cap="flat" cmpd="sng" algn="ctr">
                      <a:solidFill>
                        <a:srgbClr val="C060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D069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1950126"/>
                  </a:ext>
                </a:extLst>
              </a:tr>
              <a:tr h="1075359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</a:rPr>
                        <a:t>Screen Time (iOS)</a:t>
                      </a:r>
                    </a:p>
                  </a:txBody>
                  <a:tcPr marL="60101" marR="60101" marT="20034" marB="20034">
                    <a:lnL w="4229" cap="flat" cmpd="sng" algn="ctr">
                      <a:solidFill>
                        <a:srgbClr val="F062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D069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F062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F062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</a:rPr>
                        <a:t>Time limits per app</a:t>
                      </a:r>
                    </a:p>
                  </a:txBody>
                  <a:tcPr marL="60101" marR="60101" marT="20034" marB="20034">
                    <a:lnL w="4229" cap="flat" cmpd="sng" algn="ctr">
                      <a:solidFill>
                        <a:srgbClr val="D069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D069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D069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406D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</a:rPr>
                        <a:t>Passive, easily bypassed</a:t>
                      </a:r>
                    </a:p>
                  </a:txBody>
                  <a:tcPr marL="60101" marR="60101" marT="20034" marB="20034">
                    <a:lnL w="4229" cap="flat" cmpd="sng" algn="ctr">
                      <a:solidFill>
                        <a:srgbClr val="D069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4229" cap="flat" cmpd="sng" algn="ctr">
                      <a:solidFill>
                        <a:srgbClr val="D069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F05D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3787370"/>
                  </a:ext>
                </a:extLst>
              </a:tr>
              <a:tr h="1332304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</a:rPr>
                        <a:t>Anki</a:t>
                      </a:r>
                    </a:p>
                  </a:txBody>
                  <a:tcPr marL="60101" marR="60101" marT="20034" marB="20034">
                    <a:lnL w="4229" cap="flat" cmpd="sng" algn="ctr">
                      <a:solidFill>
                        <a:srgbClr val="F062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406D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F062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F062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</a:rPr>
                        <a:t>Spaced repetition</a:t>
                      </a:r>
                    </a:p>
                  </a:txBody>
                  <a:tcPr marL="60101" marR="60101" marT="20034" marB="20034">
                    <a:lnL w="4229" cap="flat" cmpd="sng" algn="ctr">
                      <a:solidFill>
                        <a:srgbClr val="406D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F05D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406D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C065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</a:rPr>
                        <a:t>No break-earning mechanic</a:t>
                      </a:r>
                    </a:p>
                  </a:txBody>
                  <a:tcPr marL="60101" marR="60101" marT="20034" marB="20034">
                    <a:lnL w="4229" cap="flat" cmpd="sng" algn="ctr">
                      <a:solidFill>
                        <a:srgbClr val="F05D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4229" cap="flat" cmpd="sng" algn="ctr">
                      <a:solidFill>
                        <a:srgbClr val="F05D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7060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3144320"/>
                  </a:ext>
                </a:extLst>
              </a:tr>
              <a:tr h="56147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</a:rPr>
                        <a:t>Notion / Obsidian</a:t>
                      </a:r>
                    </a:p>
                  </a:txBody>
                  <a:tcPr marL="60101" marR="60101" marT="20034" marB="20034">
                    <a:lnL w="4229" cap="flat" cmpd="sng" algn="ctr">
                      <a:solidFill>
                        <a:srgbClr val="F062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C065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F062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1400">
                          <a:solidFill>
                            <a:schemeClr val="bg1"/>
                          </a:solidFill>
                          <a:effectLst/>
                        </a:rPr>
                        <a:t>Notes &amp; PKM</a:t>
                      </a:r>
                    </a:p>
                  </a:txBody>
                  <a:tcPr marL="60101" marR="60101" marT="20034" marB="20034">
                    <a:lnL w="4229" cap="flat" cmpd="sng" algn="ctr">
                      <a:solidFill>
                        <a:srgbClr val="C065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7060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C065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1400" dirty="0">
                          <a:solidFill>
                            <a:schemeClr val="bg1"/>
                          </a:solidFill>
                          <a:effectLst/>
                        </a:rPr>
                        <a:t>Entirely passive</a:t>
                      </a:r>
                    </a:p>
                  </a:txBody>
                  <a:tcPr marL="60101" marR="60101" marT="20034" marB="20034">
                    <a:lnL w="4229" cap="flat" cmpd="sng" algn="ctr">
                      <a:solidFill>
                        <a:srgbClr val="7060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4229" cap="flat" cmpd="sng" algn="ctr">
                      <a:solidFill>
                        <a:srgbClr val="7060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883167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Your Solutions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4CB08F-7BA7-E5A4-B864-0695E52A8AC5}"/>
              </a:ext>
            </a:extLst>
          </p:cNvPr>
          <p:cNvSpPr txBox="1"/>
          <p:nvPr/>
        </p:nvSpPr>
        <p:spPr>
          <a:xfrm>
            <a:off x="609600" y="1778000"/>
            <a:ext cx="7548880" cy="4193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IN" sz="2400" b="1" i="0" dirty="0">
                <a:effectLst/>
                <a:latin typeface="Segoe WPC"/>
              </a:rPr>
              <a:t>GrindGuard: The Proof-of-Learning Engine</a:t>
            </a:r>
            <a:endParaRPr lang="en-IN" sz="2400" b="0" i="0" dirty="0">
              <a:effectLst/>
              <a:latin typeface="Segoe WPC"/>
            </a:endParaRPr>
          </a:p>
          <a:p>
            <a:pPr>
              <a:buNone/>
            </a:pPr>
            <a:r>
              <a:rPr lang="en-IN" sz="2400" dirty="0">
                <a:latin typeface="ui-monospace"/>
              </a:rPr>
              <a:t>📄 Paste notes or upload PDF</a:t>
            </a:r>
          </a:p>
          <a:p>
            <a:pPr>
              <a:buNone/>
            </a:pPr>
            <a:r>
              <a:rPr lang="en-IN" sz="2400" dirty="0">
                <a:latin typeface="ui-monospace"/>
              </a:rPr>
              <a:t>        ↓</a:t>
            </a:r>
          </a:p>
          <a:p>
            <a:pPr>
              <a:buNone/>
            </a:pPr>
            <a:r>
              <a:rPr lang="en-IN" sz="2400" dirty="0">
                <a:latin typeface="ui-monospace"/>
              </a:rPr>
              <a:t>🧠 AI generates 12 questions FROM YOUR material</a:t>
            </a:r>
          </a:p>
          <a:p>
            <a:pPr>
              <a:buNone/>
            </a:pPr>
            <a:r>
              <a:rPr lang="en-IN" sz="2400" dirty="0">
                <a:latin typeface="ui-monospace"/>
              </a:rPr>
              <a:t>        ↓</a:t>
            </a:r>
          </a:p>
          <a:p>
            <a:pPr>
              <a:buNone/>
            </a:pPr>
            <a:r>
              <a:rPr lang="en-IN" sz="2400" dirty="0">
                <a:latin typeface="ui-monospace"/>
              </a:rPr>
              <a:t>⏱️ 10-minute timed quiz (memory · application · hard)</a:t>
            </a:r>
          </a:p>
          <a:p>
            <a:pPr>
              <a:buNone/>
            </a:pPr>
            <a:r>
              <a:rPr lang="en-IN" sz="2400" dirty="0">
                <a:latin typeface="ui-monospace"/>
              </a:rPr>
              <a:t>        ↓</a:t>
            </a:r>
          </a:p>
          <a:p>
            <a:pPr>
              <a:buNone/>
            </a:pPr>
            <a:r>
              <a:rPr lang="en-IN" sz="2400" dirty="0">
                <a:latin typeface="ui-monospace"/>
              </a:rPr>
              <a:t>⚡ EP = Accuracy² × Time × Streak + Bonuses</a:t>
            </a:r>
          </a:p>
          <a:p>
            <a:pPr>
              <a:buNone/>
            </a:pPr>
            <a:r>
              <a:rPr lang="en-IN" sz="2400" dirty="0">
                <a:latin typeface="ui-monospace"/>
              </a:rPr>
              <a:t>        ↓</a:t>
            </a:r>
          </a:p>
          <a:p>
            <a:pPr>
              <a:buNone/>
            </a:pPr>
            <a:r>
              <a:rPr lang="en-IN" sz="2400" dirty="0">
                <a:latin typeface="ui-monospace"/>
              </a:rPr>
              <a:t>🎁 1 EP = 1 minute of Instagram / YouTube / Games</a:t>
            </a:r>
            <a:br>
              <a:rPr lang="en-IN" sz="2400" b="0" i="0" dirty="0">
                <a:solidFill>
                  <a:srgbClr val="CCCCCC"/>
                </a:solidFill>
                <a:effectLst/>
                <a:latin typeface="ui-monospace"/>
              </a:rPr>
            </a:b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005258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Demo/Product Walkthrough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B70F7E-2793-60B7-E999-D6E58B9C4B6A}"/>
              </a:ext>
            </a:extLst>
          </p:cNvPr>
          <p:cNvSpPr txBox="1"/>
          <p:nvPr/>
        </p:nvSpPr>
        <p:spPr>
          <a:xfrm>
            <a:off x="609600" y="1524000"/>
            <a:ext cx="6390640" cy="5455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IN" b="1" i="0" dirty="0">
                <a:effectLst/>
                <a:latin typeface="Segoe WPC"/>
              </a:rPr>
              <a:t>6-step user journey:</a:t>
            </a:r>
            <a:endParaRPr lang="en-IN" b="0" i="0" dirty="0">
              <a:effectLst/>
              <a:latin typeface="Segoe WPC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b="1" i="0" dirty="0">
                <a:effectLst/>
                <a:latin typeface="Segoe WPC"/>
              </a:rPr>
              <a:t>Sign Up / Login</a:t>
            </a:r>
            <a:r>
              <a:rPr lang="en-IN" b="0" i="0" dirty="0">
                <a:effectLst/>
                <a:latin typeface="Segoe WPC"/>
              </a:rPr>
              <a:t> — Name + Email, persistent account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b="1" i="0" dirty="0">
                <a:effectLst/>
                <a:latin typeface="Segoe WPC"/>
              </a:rPr>
              <a:t> </a:t>
            </a:r>
            <a:r>
              <a:rPr lang="en-IN" b="1" i="0" dirty="0" err="1">
                <a:effectLst/>
                <a:latin typeface="Segoe WPC"/>
              </a:rPr>
              <a:t>O</a:t>
            </a:r>
            <a:r>
              <a:rPr lang="en-IN" b="1" dirty="0" err="1">
                <a:latin typeface="Segoe WPC"/>
              </a:rPr>
              <a:t>boarding</a:t>
            </a:r>
            <a:r>
              <a:rPr lang="en-IN" b="1" dirty="0">
                <a:latin typeface="Segoe WPC"/>
              </a:rPr>
              <a:t> Quiz </a:t>
            </a:r>
            <a:r>
              <a:rPr lang="en-IN" dirty="0">
                <a:latin typeface="Segoe WPC"/>
              </a:rPr>
              <a:t>– AI generated quiz for personalized experience </a:t>
            </a:r>
            <a:endParaRPr lang="en-IN" b="0" i="0" dirty="0">
              <a:effectLst/>
              <a:latin typeface="Segoe WPC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b="1" dirty="0">
                <a:latin typeface="Segoe WPC"/>
              </a:rPr>
              <a:t>Dashboard</a:t>
            </a:r>
            <a:r>
              <a:rPr lang="en-IN" b="0" i="0" dirty="0">
                <a:effectLst/>
                <a:latin typeface="Segoe WPC"/>
              </a:rPr>
              <a:t> — Start Session · Quiz · Rewards · Progress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b="1" i="0" dirty="0">
                <a:effectLst/>
                <a:latin typeface="Segoe WPC"/>
              </a:rPr>
              <a:t>Study Session</a:t>
            </a:r>
            <a:r>
              <a:rPr lang="en-IN" b="0" i="0" dirty="0">
                <a:effectLst/>
                <a:latin typeface="Segoe WPC"/>
              </a:rPr>
              <a:t> — Set timer, paste notes or upload PDF, enable Focus Monitor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b="1" i="0" dirty="0">
                <a:effectLst/>
                <a:latin typeface="Segoe WPC"/>
              </a:rPr>
              <a:t>Quiz</a:t>
            </a:r>
            <a:r>
              <a:rPr lang="en-IN" b="0" i="0" dirty="0">
                <a:effectLst/>
                <a:latin typeface="Segoe WPC"/>
              </a:rPr>
              <a:t> — 12 AI-generated questions, 10-min countdown, auto-submit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b="1" i="0" dirty="0">
                <a:effectLst/>
                <a:latin typeface="Segoe WPC"/>
              </a:rPr>
              <a:t>Rewards</a:t>
            </a:r>
            <a:r>
              <a:rPr lang="en-IN" b="0" i="0" dirty="0">
                <a:effectLst/>
                <a:latin typeface="Segoe WPC"/>
              </a:rPr>
              <a:t> — Warden verdict, EP earned, spend on break time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b="1" i="0" dirty="0">
                <a:effectLst/>
                <a:latin typeface="Segoe WPC"/>
              </a:rPr>
              <a:t>Progress</a:t>
            </a:r>
            <a:r>
              <a:rPr lang="en-IN" b="0" i="0" dirty="0">
                <a:effectLst/>
                <a:latin typeface="Segoe WPC"/>
              </a:rPr>
              <a:t> — Streak, accuracy trends, weak areas, topic performance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IN" b="1" i="0" dirty="0">
                <a:effectLst/>
                <a:latin typeface="Segoe WPC"/>
              </a:rPr>
              <a:t>Key enforcement:</a:t>
            </a:r>
            <a:r>
              <a:rPr lang="en-IN" b="0" i="0" dirty="0">
                <a:effectLst/>
                <a:latin typeface="Segoe WPC"/>
              </a:rPr>
              <a:t> End session early → compulsory quiz fires immediately. No escape.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29606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Tech &amp; Architecture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525453" y="1387009"/>
            <a:ext cx="5570547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Frontend</a:t>
            </a:r>
            <a:endParaRPr lang="en-IN" dirty="0"/>
          </a:p>
          <a:p>
            <a:r>
              <a:rPr lang="en-IN" dirty="0"/>
              <a:t>React 19 + Vite · WebRTC screen capture · Browser Notifications</a:t>
            </a:r>
          </a:p>
          <a:p>
            <a:r>
              <a:rPr lang="en-IN" b="1" dirty="0"/>
              <a:t>Backend</a:t>
            </a:r>
            <a:endParaRPr lang="en-IN" dirty="0"/>
          </a:p>
          <a:p>
            <a:r>
              <a:rPr lang="en-IN" dirty="0"/>
              <a:t>Node.js 22 + Express 5 + TypeScript</a:t>
            </a:r>
          </a:p>
          <a:p>
            <a:r>
              <a:rPr lang="en-IN" dirty="0"/>
              <a:t>YAML flat-file persistence (no database dependency)</a:t>
            </a:r>
          </a:p>
          <a:p>
            <a:r>
              <a:rPr lang="en-IN" dirty="0"/>
              <a:t>LLM abstraction: Gemini (primary) → OpenAI → </a:t>
            </a:r>
            <a:r>
              <a:rPr lang="en-IN" dirty="0" err="1"/>
              <a:t>Ollama</a:t>
            </a:r>
            <a:endParaRPr lang="en-IN" dirty="0"/>
          </a:p>
          <a:p>
            <a:r>
              <a:rPr lang="en-IN" b="1" dirty="0"/>
              <a:t>AI Stack</a:t>
            </a:r>
            <a:endParaRPr lang="en-IN" dirty="0"/>
          </a:p>
          <a:p>
            <a:r>
              <a:rPr lang="en-IN" b="1" dirty="0"/>
              <a:t>Quiz generation:</a:t>
            </a:r>
            <a:r>
              <a:rPr lang="en-IN" dirty="0"/>
              <a:t> Google Gemini 2.5 Flash (multi-key rotation, model fallback)</a:t>
            </a:r>
          </a:p>
          <a:p>
            <a:r>
              <a:rPr lang="en-IN" b="1" dirty="0"/>
              <a:t>Screen analysis:</a:t>
            </a:r>
            <a:r>
              <a:rPr lang="en-IN" dirty="0"/>
              <a:t> Groq Vision (Llama 4 Scout 17B) + Gemini fallback</a:t>
            </a:r>
          </a:p>
          <a:p>
            <a:r>
              <a:rPr lang="en-IN" b="1" dirty="0" err="1"/>
              <a:t>OpenClaw</a:t>
            </a:r>
            <a:r>
              <a:rPr lang="en-IN" b="1" dirty="0"/>
              <a:t> Agent Framework</a:t>
            </a:r>
            <a:r>
              <a:rPr lang="en-IN" dirty="0"/>
              <a:t> </a:t>
            </a:r>
            <a:r>
              <a:rPr lang="en-IN" i="1" dirty="0"/>
              <a:t>(custom-built)</a:t>
            </a:r>
            <a:endParaRPr lang="en-IN" dirty="0"/>
          </a:p>
          <a:p>
            <a:r>
              <a:rPr lang="en-IN" dirty="0"/>
              <a:t>SOUL.md — AI persona config · HEARTBEAT.md — scheduled tasks</a:t>
            </a:r>
          </a:p>
          <a:p>
            <a:r>
              <a:rPr lang="en-IN" dirty="0"/>
              <a:t>Gateway → </a:t>
            </a:r>
            <a:r>
              <a:rPr lang="en-IN" dirty="0" err="1"/>
              <a:t>PiEngine</a:t>
            </a:r>
            <a:r>
              <a:rPr lang="en-IN" dirty="0"/>
              <a:t> → Telegram Bot (bidirectional)</a:t>
            </a:r>
          </a:p>
          <a:p>
            <a:r>
              <a:rPr lang="en-IN" dirty="0"/>
              <a:t>Pluggable skills: </a:t>
            </a:r>
            <a:r>
              <a:rPr lang="en-IN" dirty="0" err="1"/>
              <a:t>app_lock</a:t>
            </a:r>
            <a:r>
              <a:rPr lang="en-IN" dirty="0"/>
              <a:t> · </a:t>
            </a:r>
            <a:r>
              <a:rPr lang="en-IN" dirty="0" err="1"/>
              <a:t>credit_engine</a:t>
            </a:r>
            <a:r>
              <a:rPr lang="en-IN" dirty="0"/>
              <a:t> · </a:t>
            </a:r>
            <a:r>
              <a:rPr lang="en-IN" dirty="0" err="1"/>
              <a:t>screen_watch</a:t>
            </a:r>
            <a:r>
              <a:rPr lang="en-IN" dirty="0"/>
              <a:t> · </a:t>
            </a:r>
            <a:r>
              <a:rPr lang="en-IN" dirty="0" err="1"/>
              <a:t>health_sync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678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4104640" y="403352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Use cases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22589D4-8C56-CEF1-B019-BDECF344E9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7638848"/>
              </p:ext>
            </p:extLst>
          </p:nvPr>
        </p:nvGraphicFramePr>
        <p:xfrm>
          <a:off x="2560320" y="1574800"/>
          <a:ext cx="7030720" cy="4978400"/>
        </p:xfrm>
        <a:graphic>
          <a:graphicData uri="http://schemas.openxmlformats.org/drawingml/2006/table">
            <a:tbl>
              <a:tblPr/>
              <a:tblGrid>
                <a:gridCol w="3515360">
                  <a:extLst>
                    <a:ext uri="{9D8B030D-6E8A-4147-A177-3AD203B41FA5}">
                      <a16:colId xmlns:a16="http://schemas.microsoft.com/office/drawing/2014/main" val="1502969100"/>
                    </a:ext>
                  </a:extLst>
                </a:gridCol>
                <a:gridCol w="3515360">
                  <a:extLst>
                    <a:ext uri="{9D8B030D-6E8A-4147-A177-3AD203B41FA5}">
                      <a16:colId xmlns:a16="http://schemas.microsoft.com/office/drawing/2014/main" val="800791397"/>
                    </a:ext>
                  </a:extLst>
                </a:gridCol>
              </a:tblGrid>
              <a:tr h="45119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b="1" dirty="0">
                          <a:solidFill>
                            <a:schemeClr val="bg2"/>
                          </a:solidFill>
                          <a:effectLst/>
                        </a:rPr>
                        <a:t>Audience</a:t>
                      </a:r>
                    </a:p>
                  </a:txBody>
                  <a:tcPr marL="50131" marR="50131" marT="16710" marB="16710">
                    <a:lnL w="4229" cap="flat" cmpd="sng" algn="ctr">
                      <a:solidFill>
                        <a:srgbClr val="7008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C0FE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7008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90F7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b="1">
                          <a:solidFill>
                            <a:schemeClr val="bg2"/>
                          </a:solidFill>
                          <a:effectLst/>
                        </a:rPr>
                        <a:t>How they use it</a:t>
                      </a:r>
                    </a:p>
                  </a:txBody>
                  <a:tcPr marL="50131" marR="50131" marT="16710" marB="16710">
                    <a:lnL w="4229" cap="flat" cmpd="sng" algn="ctr">
                      <a:solidFill>
                        <a:srgbClr val="C0FE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4229" cap="flat" cmpd="sng" algn="ctr">
                      <a:solidFill>
                        <a:srgbClr val="C0FE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F0F6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0408540"/>
                  </a:ext>
                </a:extLst>
              </a:tr>
              <a:tr h="864146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1200">
                          <a:solidFill>
                            <a:schemeClr val="bg2"/>
                          </a:solidFill>
                          <a:effectLst/>
                        </a:rPr>
                        <a:t>Competitive exam students</a:t>
                      </a:r>
                    </a:p>
                  </a:txBody>
                  <a:tcPr marL="50131" marR="50131" marT="16710" marB="16710">
                    <a:lnL w="4229" cap="flat" cmpd="sng" algn="ctr">
                      <a:solidFill>
                        <a:srgbClr val="90F7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F0F6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90F7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60FA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>
                          <a:solidFill>
                            <a:schemeClr val="bg2"/>
                          </a:solidFill>
                          <a:effectLst/>
                        </a:rPr>
                        <a:t>Study chapter → quiz → earn phone time</a:t>
                      </a:r>
                    </a:p>
                  </a:txBody>
                  <a:tcPr marL="50131" marR="50131" marT="16710" marB="16710">
                    <a:lnL w="4229" cap="flat" cmpd="sng" algn="ctr">
                      <a:solidFill>
                        <a:srgbClr val="F0F6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4229" cap="flat" cmpd="sng" algn="ctr">
                      <a:solidFill>
                        <a:srgbClr val="F0F6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5000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1523180"/>
                  </a:ext>
                </a:extLst>
              </a:tr>
              <a:tr h="1070624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1200">
                          <a:solidFill>
                            <a:schemeClr val="bg2"/>
                          </a:solidFill>
                          <a:effectLst/>
                        </a:rPr>
                        <a:t>CS/Dev grinders (LeetCode)</a:t>
                      </a:r>
                    </a:p>
                  </a:txBody>
                  <a:tcPr marL="50131" marR="50131" marT="16710" marB="16710">
                    <a:lnL w="4229" cap="flat" cmpd="sng" algn="ctr">
                      <a:solidFill>
                        <a:srgbClr val="60FA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5000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60FA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C0F9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1200">
                          <a:solidFill>
                            <a:schemeClr val="bg2"/>
                          </a:solidFill>
                          <a:effectLst/>
                        </a:rPr>
                        <a:t>Paste editorial → verify understanding → unlock Reddit</a:t>
                      </a:r>
                    </a:p>
                  </a:txBody>
                  <a:tcPr marL="50131" marR="50131" marT="16710" marB="16710">
                    <a:lnL w="4229" cap="flat" cmpd="sng" algn="ctr">
                      <a:solidFill>
                        <a:srgbClr val="5000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4229" cap="flat" cmpd="sng" algn="ctr">
                      <a:solidFill>
                        <a:srgbClr val="5000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50F6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4218656"/>
                  </a:ext>
                </a:extLst>
              </a:tr>
              <a:tr h="864146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1200">
                          <a:solidFill>
                            <a:schemeClr val="bg2"/>
                          </a:solidFill>
                          <a:effectLst/>
                        </a:rPr>
                        <a:t>Self-learners (Udemy, PDFs)</a:t>
                      </a:r>
                    </a:p>
                  </a:txBody>
                  <a:tcPr marL="50131" marR="50131" marT="16710" marB="16710">
                    <a:lnL w="4229" cap="flat" cmpd="sng" algn="ctr">
                      <a:solidFill>
                        <a:srgbClr val="C0F9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50F6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C0F9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50F6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>
                          <a:solidFill>
                            <a:schemeClr val="bg2"/>
                          </a:solidFill>
                          <a:effectLst/>
                        </a:rPr>
                        <a:t>Upload course PDF → quiz from it → earn break</a:t>
                      </a:r>
                    </a:p>
                  </a:txBody>
                  <a:tcPr marL="50131" marR="50131" marT="16710" marB="16710">
                    <a:lnL w="4229" cap="flat" cmpd="sng" algn="ctr">
                      <a:solidFill>
                        <a:srgbClr val="50F6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4229" cap="flat" cmpd="sng" algn="ctr">
                      <a:solidFill>
                        <a:srgbClr val="50F6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7008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6506650"/>
                  </a:ext>
                </a:extLst>
              </a:tr>
              <a:tr h="864146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1200">
                          <a:solidFill>
                            <a:schemeClr val="bg2"/>
                          </a:solidFill>
                          <a:effectLst/>
                        </a:rPr>
                        <a:t>Social media addicts</a:t>
                      </a:r>
                    </a:p>
                  </a:txBody>
                  <a:tcPr marL="50131" marR="50131" marT="16710" marB="16710">
                    <a:lnL w="4229" cap="flat" cmpd="sng" algn="ctr">
                      <a:solidFill>
                        <a:srgbClr val="50F6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7008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50F6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A0F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1200">
                          <a:solidFill>
                            <a:schemeClr val="bg2"/>
                          </a:solidFill>
                          <a:effectLst/>
                        </a:rPr>
                        <a:t>EP budget enforces conscious consumption</a:t>
                      </a:r>
                    </a:p>
                  </a:txBody>
                  <a:tcPr marL="50131" marR="50131" marT="16710" marB="16710">
                    <a:lnL w="4229" cap="flat" cmpd="sng" algn="ctr">
                      <a:solidFill>
                        <a:srgbClr val="7008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4229" cap="flat" cmpd="sng" algn="ctr">
                      <a:solidFill>
                        <a:srgbClr val="7008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E0F7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2351342"/>
                  </a:ext>
                </a:extLst>
              </a:tr>
              <a:tr h="864146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1200">
                          <a:solidFill>
                            <a:schemeClr val="bg2"/>
                          </a:solidFill>
                          <a:effectLst/>
                        </a:rPr>
                        <a:t>Fitness + academics </a:t>
                      </a:r>
                      <a:r>
                        <a:rPr lang="en-IN" sz="1200" i="1">
                          <a:solidFill>
                            <a:schemeClr val="bg2"/>
                          </a:solidFill>
                          <a:effectLst/>
                        </a:rPr>
                        <a:t>(planned)</a:t>
                      </a:r>
                      <a:endParaRPr lang="en-IN" sz="1200">
                        <a:solidFill>
                          <a:schemeClr val="bg2"/>
                        </a:solidFill>
                        <a:effectLst/>
                      </a:endParaRPr>
                    </a:p>
                  </a:txBody>
                  <a:tcPr marL="50131" marR="50131" marT="16710" marB="16710">
                    <a:lnL w="4229" cap="flat" cmpd="sng" algn="ctr">
                      <a:solidFill>
                        <a:srgbClr val="A0F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E0F7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A0F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effectLst/>
                        </a:rPr>
                        <a:t>Samsung Health workout = +20 EP</a:t>
                      </a:r>
                    </a:p>
                  </a:txBody>
                  <a:tcPr marL="50131" marR="50131" marT="16710" marB="16710">
                    <a:lnL w="4229" cap="flat" cmpd="sng" algn="ctr">
                      <a:solidFill>
                        <a:srgbClr val="E0F7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4229" cap="flat" cmpd="sng" algn="ctr">
                      <a:solidFill>
                        <a:srgbClr val="E0F7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0312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7358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4673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DB40D1-3A40-3E88-3FA9-0CBA52AC5379}"/>
              </a:ext>
            </a:extLst>
          </p:cNvPr>
          <p:cNvSpPr txBox="1"/>
          <p:nvPr/>
        </p:nvSpPr>
        <p:spPr>
          <a:xfrm>
            <a:off x="609600" y="1179522"/>
            <a:ext cx="8745220" cy="5678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900"/>
              </a:spcBef>
              <a:spcAft>
                <a:spcPts val="600"/>
              </a:spcAft>
              <a:buNone/>
            </a:pPr>
            <a:r>
              <a:rPr lang="en-US" b="1" i="0" dirty="0">
                <a:effectLst/>
                <a:latin typeface="Segoe WPC"/>
              </a:rPr>
              <a:t>MOAT 1 — Proof-of-Learning Gate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b="0" i="1" dirty="0">
                <a:effectLst/>
                <a:latin typeface="Segoe WPC"/>
              </a:rPr>
              <a:t>Not a time-gate. A </a:t>
            </a:r>
            <a:r>
              <a:rPr lang="en-US" b="1" i="1" dirty="0">
                <a:effectLst/>
                <a:latin typeface="Segoe WPC"/>
              </a:rPr>
              <a:t>comprehension gate.</a:t>
            </a:r>
            <a:endParaRPr lang="en-US" b="0" i="1" dirty="0">
              <a:effectLst/>
              <a:latin typeface="Segoe WPC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egoe WPC"/>
              </a:rPr>
              <a:t>Quiz is generated from YOUR notes — not generic questions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egoe WPC"/>
              </a:rPr>
              <a:t>Accuracy is </a:t>
            </a:r>
            <a:r>
              <a:rPr lang="en-US" b="1" i="0" dirty="0">
                <a:effectLst/>
                <a:latin typeface="Segoe WPC"/>
              </a:rPr>
              <a:t>squared</a:t>
            </a:r>
            <a:r>
              <a:rPr lang="en-US" b="0" i="0" dirty="0">
                <a:effectLst/>
                <a:latin typeface="Segoe WPC"/>
              </a:rPr>
              <a:t> in the formula — 50% accuracy = 25% of max EP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egoe WPC"/>
              </a:rPr>
              <a:t>The only product on earth where Instagram access is a function of quiz performance on your own study material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 algn="l">
              <a:spcBef>
                <a:spcPts val="900"/>
              </a:spcBef>
              <a:spcAft>
                <a:spcPts val="600"/>
              </a:spcAft>
              <a:buNone/>
            </a:pPr>
            <a:r>
              <a:rPr lang="en-US" b="1" i="0" dirty="0">
                <a:effectLst/>
                <a:latin typeface="Segoe WPC"/>
              </a:rPr>
              <a:t>MOAT 2 — </a:t>
            </a:r>
            <a:r>
              <a:rPr lang="en-US" b="1" i="0" dirty="0" err="1">
                <a:effectLst/>
                <a:latin typeface="Segoe WPC"/>
              </a:rPr>
              <a:t>OpenClaw</a:t>
            </a:r>
            <a:r>
              <a:rPr lang="en-US" b="1" i="0" dirty="0">
                <a:effectLst/>
                <a:latin typeface="Segoe WPC"/>
              </a:rPr>
              <a:t>: A Portable Agentic OS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b="0" i="1" dirty="0">
                <a:effectLst/>
                <a:latin typeface="Segoe WPC"/>
              </a:rPr>
              <a:t>Not just a feature — a framework.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egoe WPC"/>
              </a:rPr>
              <a:t>Swap the AI persona by editing one markdown file (</a:t>
            </a:r>
            <a:r>
              <a:rPr lang="en-US" b="0" i="0" dirty="0">
                <a:effectLst/>
                <a:latin typeface="Consolas" panose="020B0609020204030204" pitchFamily="49" charset="0"/>
              </a:rPr>
              <a:t>SOUL.md</a:t>
            </a:r>
            <a:r>
              <a:rPr lang="en-US" b="0" i="0" dirty="0">
                <a:effectLst/>
                <a:latin typeface="Segoe WPC"/>
              </a:rPr>
              <a:t>)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egoe WPC"/>
              </a:rPr>
              <a:t>Add Discord / SMS / WhatsApp with one adapter file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egoe WPC"/>
              </a:rPr>
              <a:t>Schedule any behavior without code (</a:t>
            </a:r>
            <a:r>
              <a:rPr lang="en-US" b="0" i="0" dirty="0">
                <a:effectLst/>
                <a:latin typeface="Consolas" panose="020B0609020204030204" pitchFamily="49" charset="0"/>
              </a:rPr>
              <a:t>HEARTBEAT.md</a:t>
            </a:r>
            <a:r>
              <a:rPr lang="en-US" b="0" i="0" dirty="0">
                <a:effectLst/>
                <a:latin typeface="Segoe WPC"/>
              </a:rPr>
              <a:t>)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egoe WPC"/>
              </a:rPr>
              <a:t>Samsung Health, screen watch, message proxy as drop-in skills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Segoe WPC"/>
              </a:rPr>
              <a:t>Platform play:</a:t>
            </a:r>
            <a:r>
              <a:rPr lang="en-US" b="0" i="0" dirty="0">
                <a:effectLst/>
                <a:latin typeface="Segoe WPC"/>
              </a:rPr>
              <a:t> </a:t>
            </a:r>
            <a:r>
              <a:rPr lang="en-US" b="0" i="0" dirty="0" err="1">
                <a:effectLst/>
                <a:latin typeface="Segoe WPC"/>
              </a:rPr>
              <a:t>GrindGuard</a:t>
            </a:r>
            <a:r>
              <a:rPr lang="en-US" b="0" i="0" dirty="0">
                <a:effectLst/>
                <a:latin typeface="Segoe WPC"/>
              </a:rPr>
              <a:t> can expand to fitness, diet, coding challenges — same engine</a:t>
            </a:r>
          </a:p>
        </p:txBody>
      </p:sp>
    </p:spTree>
    <p:extLst>
      <p:ext uri="{BB962C8B-B14F-4D97-AF65-F5344CB8AC3E}">
        <p14:creationId xmlns:p14="http://schemas.microsoft.com/office/powerpoint/2010/main" val="1746425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Demo Link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740496" y="1682945"/>
            <a:ext cx="926710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hlinkClick r:id="rId3"/>
              </a:rPr>
              <a:t>https://github.com/samarthprabhu2007-art/SAMSUNG-HACKATHON-</a:t>
            </a:r>
            <a:endParaRPr lang="en-IN" dirty="0"/>
          </a:p>
          <a:p>
            <a:endParaRPr lang="en-IN" dirty="0"/>
          </a:p>
          <a:p>
            <a:br>
              <a:rPr lang="en-IN" dirty="0"/>
            </a:br>
            <a:r>
              <a:rPr lang="en-IN" dirty="0">
                <a:hlinkClick r:id="rId4"/>
              </a:rPr>
              <a:t>https://drive.google.com/drive/u/2/folders/14nWKqE1NpQNWzFzL5WSV0tQqlkPlvEBy</a:t>
            </a:r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82795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Brownie Slide 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A5AD15-F996-2CBD-5232-DDC0C2B871E7}"/>
              </a:ext>
            </a:extLst>
          </p:cNvPr>
          <p:cNvSpPr txBox="1"/>
          <p:nvPr/>
        </p:nvSpPr>
        <p:spPr>
          <a:xfrm>
            <a:off x="490220" y="1469166"/>
            <a:ext cx="6101080" cy="5339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Segoe WPC"/>
              </a:rPr>
              <a:t>🔒 </a:t>
            </a:r>
            <a:r>
              <a:rPr lang="en-IN" b="1" i="0" dirty="0">
                <a:effectLst/>
                <a:latin typeface="Segoe WPC"/>
              </a:rPr>
              <a:t>Compulsory quiz on early exit</a:t>
            </a:r>
            <a:r>
              <a:rPr lang="en-IN" b="0" i="0" dirty="0">
                <a:effectLst/>
                <a:latin typeface="Segoe WPC"/>
              </a:rPr>
              <a:t> — tab-close blocked, no escape during compulsory mode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Segoe WPC"/>
              </a:rPr>
              <a:t>👁️ </a:t>
            </a:r>
            <a:r>
              <a:rPr lang="en-IN" b="1" i="0" dirty="0">
                <a:effectLst/>
                <a:latin typeface="Segoe WPC"/>
              </a:rPr>
              <a:t>Live screen monitoring</a:t>
            </a:r>
            <a:r>
              <a:rPr lang="en-IN" b="0" i="0" dirty="0">
                <a:effectLst/>
                <a:latin typeface="Segoe WPC"/>
              </a:rPr>
              <a:t> — WebRTC + </a:t>
            </a:r>
            <a:r>
              <a:rPr lang="en-IN" b="0" i="0" dirty="0" err="1">
                <a:effectLst/>
                <a:latin typeface="Segoe WPC"/>
              </a:rPr>
              <a:t>Groq</a:t>
            </a:r>
            <a:r>
              <a:rPr lang="en-IN" b="0" i="0" dirty="0">
                <a:effectLst/>
                <a:latin typeface="Segoe WPC"/>
              </a:rPr>
              <a:t> Vision classifies your screen every 30s; 3 strikes → auto-redirect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Segoe WPC"/>
              </a:rPr>
              <a:t>📸 </a:t>
            </a:r>
            <a:r>
              <a:rPr lang="en-IN" b="1" i="0" dirty="0">
                <a:effectLst/>
                <a:latin typeface="Segoe WPC"/>
              </a:rPr>
              <a:t>Screen fingerprinting</a:t>
            </a:r>
            <a:r>
              <a:rPr lang="en-IN" b="0" i="0" dirty="0">
                <a:effectLst/>
                <a:latin typeface="Segoe WPC"/>
              </a:rPr>
              <a:t> — pixel-level </a:t>
            </a:r>
            <a:r>
              <a:rPr lang="en-IN" b="0" i="0" dirty="0" err="1">
                <a:effectLst/>
                <a:latin typeface="Segoe WPC"/>
              </a:rPr>
              <a:t>dedup</a:t>
            </a:r>
            <a:r>
              <a:rPr lang="en-IN" b="0" i="0" dirty="0">
                <a:effectLst/>
                <a:latin typeface="Segoe WPC"/>
              </a:rPr>
              <a:t> skips API calls when screen hasn't changed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Segoe WPC"/>
              </a:rPr>
              <a:t>🔑 </a:t>
            </a:r>
            <a:r>
              <a:rPr lang="en-IN" b="1" i="0" dirty="0">
                <a:effectLst/>
                <a:latin typeface="Segoe WPC"/>
              </a:rPr>
              <a:t>Multi-key Gemini rotation</a:t>
            </a:r>
            <a:r>
              <a:rPr lang="en-IN" b="0" i="0" dirty="0">
                <a:effectLst/>
                <a:latin typeface="Segoe WPC"/>
              </a:rPr>
              <a:t> — rotates API keys with 90s cooldown, never fails under quota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Segoe WPC"/>
              </a:rPr>
              <a:t>📲 </a:t>
            </a:r>
            <a:r>
              <a:rPr lang="en-IN" b="1" i="0" dirty="0">
                <a:effectLst/>
                <a:latin typeface="Segoe WPC"/>
              </a:rPr>
              <a:t>Telegram Warden</a:t>
            </a:r>
            <a:r>
              <a:rPr lang="en-IN" b="0" i="0" dirty="0">
                <a:effectLst/>
                <a:latin typeface="Segoe WPC"/>
              </a:rPr>
              <a:t> — real-time notifications on study start, quiz start, quiz results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Segoe WPC"/>
              </a:rPr>
              <a:t>⚖️ </a:t>
            </a:r>
            <a:r>
              <a:rPr lang="en-IN" b="1" i="0" dirty="0">
                <a:effectLst/>
                <a:latin typeface="Segoe WPC"/>
              </a:rPr>
              <a:t>Weighted accuracy</a:t>
            </a:r>
            <a:r>
              <a:rPr lang="en-IN" b="0" i="0" dirty="0">
                <a:effectLst/>
                <a:latin typeface="Segoe WPC"/>
              </a:rPr>
              <a:t> — hard question correct = 4× impact on accuracy score vs memory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Segoe WPC"/>
              </a:rPr>
              <a:t>⏳ </a:t>
            </a:r>
            <a:r>
              <a:rPr lang="en-IN" b="1" i="0" dirty="0">
                <a:effectLst/>
                <a:latin typeface="Segoe WPC"/>
              </a:rPr>
              <a:t>Quiz-later mode</a:t>
            </a:r>
            <a:r>
              <a:rPr lang="en-IN" b="0" i="0" dirty="0">
                <a:effectLst/>
                <a:latin typeface="Segoe WPC"/>
              </a:rPr>
              <a:t> — quiz saved async, take it days later from "Previous Sessions"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Segoe WPC"/>
              </a:rPr>
              <a:t>🤖 </a:t>
            </a:r>
            <a:r>
              <a:rPr lang="en-IN" b="1" i="0" dirty="0">
                <a:effectLst/>
                <a:latin typeface="Segoe WPC"/>
              </a:rPr>
              <a:t>The Warden persona</a:t>
            </a:r>
            <a:r>
              <a:rPr lang="en-IN" b="0" i="0" dirty="0">
                <a:effectLst/>
                <a:latin typeface="Segoe WPC"/>
              </a:rPr>
              <a:t> — </a:t>
            </a:r>
            <a:r>
              <a:rPr lang="en-IN" b="0" i="1" dirty="0">
                <a:effectLst/>
                <a:latin typeface="Segoe WPC"/>
              </a:rPr>
              <a:t>"Your future self is watching. Don't embarrass him."</a:t>
            </a:r>
            <a:r>
              <a:rPr lang="en-IN" b="0" i="0" dirty="0">
                <a:effectLst/>
                <a:latin typeface="Segoe WPC"/>
              </a:rPr>
              <a:t> — LLM-powered military coach, fully configurable via markdown</a:t>
            </a:r>
          </a:p>
        </p:txBody>
      </p:sp>
    </p:spTree>
    <p:extLst>
      <p:ext uri="{BB962C8B-B14F-4D97-AF65-F5344CB8AC3E}">
        <p14:creationId xmlns:p14="http://schemas.microsoft.com/office/powerpoint/2010/main" val="2308232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974</Words>
  <Application>Microsoft Office PowerPoint</Application>
  <PresentationFormat>Widescreen</PresentationFormat>
  <Paragraphs>132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Berlin Sans FB Demi</vt:lpstr>
      <vt:lpstr>Calibri</vt:lpstr>
      <vt:lpstr>Calibri Light</vt:lpstr>
      <vt:lpstr>Consolas</vt:lpstr>
      <vt:lpstr>Segoe WPC</vt:lpstr>
      <vt:lpstr>ui-monospace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Prakhar Chandrakar ./PRISM /SRI-Bangalore/Professional/Samsung Electronics</dc:creator>
  <cp:lastModifiedBy>Shreyas Lagvankar</cp:lastModifiedBy>
  <cp:revision>5</cp:revision>
  <dcterms:created xsi:type="dcterms:W3CDTF">2026-04-27T09:11:02Z</dcterms:created>
  <dcterms:modified xsi:type="dcterms:W3CDTF">2026-05-08T18:24:55Z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